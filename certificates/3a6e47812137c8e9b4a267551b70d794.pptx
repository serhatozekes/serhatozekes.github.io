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517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251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007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186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853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3521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371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904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755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593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346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758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60B44-6DF8-4373-8448-DBDD0B0B5E9D}" type="datetimeFigureOut">
              <a:rPr lang="tr-TR" smtClean="0"/>
              <a:t>28.04.2026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7B064-D3FF-49CC-921A-5DBAEBEBAF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510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271A58CC-D775-4FA0-B18B-CE3E2AC9D87B}"/>
              </a:ext>
            </a:extLst>
          </p:cNvPr>
          <p:cNvSpPr/>
          <p:nvPr/>
        </p:nvSpPr>
        <p:spPr>
          <a:xfrm>
            <a:off x="1" y="0"/>
            <a:ext cx="3348448" cy="6858000"/>
          </a:xfrm>
          <a:prstGeom prst="rect">
            <a:avLst/>
          </a:prstGeom>
          <a:gradFill flip="none" rotWithShape="1">
            <a:gsLst>
              <a:gs pos="0">
                <a:srgbClr val="22283F">
                  <a:lumMod val="98000"/>
                  <a:lumOff val="2000"/>
                </a:srgbClr>
              </a:gs>
              <a:gs pos="100000">
                <a:srgbClr val="3D576E">
                  <a:lumMod val="3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463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4EF2C115-5B19-0B1F-148A-532B1F8535D2}"/>
              </a:ext>
            </a:extLst>
          </p:cNvPr>
          <p:cNvSpPr txBox="1"/>
          <p:nvPr/>
        </p:nvSpPr>
        <p:spPr>
          <a:xfrm>
            <a:off x="65155" y="1568387"/>
            <a:ext cx="3014453" cy="3430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tr-TR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tr-TR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Content:</a:t>
            </a:r>
          </a:p>
          <a:p>
            <a:pPr algn="just"/>
            <a:endParaRPr lang="tr-TR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Artificial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Intelligence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Fundamentals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Python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Programming Language Fundamentals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Data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Science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Applications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with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Python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Machine Learning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Methods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Image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Processing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Fundamentals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Python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OpenCV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Applications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Image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Processing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with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Deep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Learning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Real-Time Object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Tracking</a:t>
            </a:r>
            <a:endParaRPr lang="tr-TR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tr-TR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Training </a:t>
            </a:r>
            <a:r>
              <a:rPr lang="tr-TR" sz="1138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24</a:t>
            </a:r>
          </a:p>
          <a:p>
            <a:pPr algn="just"/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</a:t>
            </a:r>
            <a:r>
              <a:rPr lang="tr-TR" sz="1138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Dates</a:t>
            </a:r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24.12.2025 - 18.03.2026</a:t>
            </a:r>
          </a:p>
          <a:p>
            <a:pPr algn="just"/>
            <a:r>
              <a:rPr lang="tr-TR" sz="1138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Certification</a:t>
            </a:r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138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17.04.2026</a:t>
            </a:r>
          </a:p>
          <a:p>
            <a:pPr algn="just"/>
            <a:endParaRPr lang="tr-TR" sz="1138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tr-TR" sz="1138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138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QR</a:t>
            </a:r>
            <a:endParaRPr lang="tr-TR" sz="1138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angle 17">
            <a:extLst>
              <a:ext uri="{FF2B5EF4-FFF2-40B4-BE49-F238E27FC236}">
                <a16:creationId xmlns:a16="http://schemas.microsoft.com/office/drawing/2014/main" id="{383F270B-401B-E2B0-D3D9-B51F2207674B}"/>
              </a:ext>
            </a:extLst>
          </p:cNvPr>
          <p:cNvSpPr/>
          <p:nvPr/>
        </p:nvSpPr>
        <p:spPr>
          <a:xfrm rot="10800000" flipH="1">
            <a:off x="6701139" y="855631"/>
            <a:ext cx="3204862" cy="1098854"/>
          </a:xfrm>
          <a:prstGeom prst="triangle">
            <a:avLst>
              <a:gd name="adj" fmla="val 100000"/>
            </a:avLst>
          </a:prstGeom>
          <a:gradFill>
            <a:gsLst>
              <a:gs pos="50000">
                <a:srgbClr val="B77614">
                  <a:lumMod val="94206"/>
                  <a:lumOff val="5794"/>
                </a:srgbClr>
              </a:gs>
              <a:gs pos="0">
                <a:srgbClr val="D58917">
                  <a:lumMod val="50000"/>
                  <a:lumOff val="50000"/>
                </a:srgbClr>
              </a:gs>
              <a:gs pos="100000">
                <a:srgbClr val="D58917">
                  <a:lumMod val="71978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6" name="Triangle 12">
            <a:extLst>
              <a:ext uri="{FF2B5EF4-FFF2-40B4-BE49-F238E27FC236}">
                <a16:creationId xmlns:a16="http://schemas.microsoft.com/office/drawing/2014/main" id="{AAACB276-48B7-2051-976E-B156524AC12B}"/>
              </a:ext>
            </a:extLst>
          </p:cNvPr>
          <p:cNvSpPr/>
          <p:nvPr/>
        </p:nvSpPr>
        <p:spPr>
          <a:xfrm rot="10800000">
            <a:off x="3420187" y="855631"/>
            <a:ext cx="4767675" cy="1098854"/>
          </a:xfrm>
          <a:prstGeom prst="triangle">
            <a:avLst>
              <a:gd name="adj" fmla="val 100000"/>
            </a:avLst>
          </a:prstGeom>
          <a:gradFill>
            <a:gsLst>
              <a:gs pos="50000">
                <a:srgbClr val="B77614">
                  <a:lumMod val="94206"/>
                  <a:lumOff val="5794"/>
                </a:srgbClr>
              </a:gs>
              <a:gs pos="0">
                <a:srgbClr val="D58917">
                  <a:lumMod val="50000"/>
                  <a:lumOff val="50000"/>
                </a:srgbClr>
              </a:gs>
              <a:gs pos="100000">
                <a:srgbClr val="D58917">
                  <a:lumMod val="71978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AAAB3672-063E-A059-2C59-B61D6822CAB6}"/>
              </a:ext>
            </a:extLst>
          </p:cNvPr>
          <p:cNvSpPr/>
          <p:nvPr/>
        </p:nvSpPr>
        <p:spPr>
          <a:xfrm rot="10800000">
            <a:off x="3420189" y="6086"/>
            <a:ext cx="6485810" cy="1699092"/>
          </a:xfrm>
          <a:custGeom>
            <a:avLst/>
            <a:gdLst>
              <a:gd name="connsiteX0" fmla="*/ 9906000 w 9906000"/>
              <a:gd name="connsiteY0" fmla="*/ 2091190 h 2091190"/>
              <a:gd name="connsiteX1" fmla="*/ 0 w 9906000"/>
              <a:gd name="connsiteY1" fmla="*/ 2091190 h 2091190"/>
              <a:gd name="connsiteX2" fmla="*/ 0 w 9906000"/>
              <a:gd name="connsiteY2" fmla="*/ 874702 h 2091190"/>
              <a:gd name="connsiteX3" fmla="*/ 4966401 w 9906000"/>
              <a:gd name="connsiteY3" fmla="*/ 0 h 2091190"/>
              <a:gd name="connsiteX4" fmla="*/ 9906000 w 9906000"/>
              <a:gd name="connsiteY4" fmla="*/ 869982 h 2091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6000" h="2091190">
                <a:moveTo>
                  <a:pt x="9906000" y="2091190"/>
                </a:moveTo>
                <a:lnTo>
                  <a:pt x="0" y="2091190"/>
                </a:lnTo>
                <a:lnTo>
                  <a:pt x="0" y="874702"/>
                </a:lnTo>
                <a:lnTo>
                  <a:pt x="4966401" y="0"/>
                </a:lnTo>
                <a:lnTo>
                  <a:pt x="9906000" y="869982"/>
                </a:lnTo>
                <a:close/>
              </a:path>
            </a:pathLst>
          </a:custGeom>
          <a:gradFill flip="none" rotWithShape="1">
            <a:gsLst>
              <a:gs pos="0">
                <a:srgbClr val="D58917">
                  <a:lumMod val="49811"/>
                  <a:lumOff val="50189"/>
                </a:srgbClr>
              </a:gs>
              <a:gs pos="50000">
                <a:srgbClr val="D58917"/>
              </a:gs>
              <a:gs pos="100000">
                <a:srgbClr val="D58917">
                  <a:lumMod val="50000"/>
                  <a:lumOff val="5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63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9FCDECB-A46A-33C1-4667-CBC54D2B79C9}"/>
              </a:ext>
            </a:extLst>
          </p:cNvPr>
          <p:cNvSpPr/>
          <p:nvPr/>
        </p:nvSpPr>
        <p:spPr>
          <a:xfrm rot="10800000">
            <a:off x="3420187" y="-1766"/>
            <a:ext cx="6485812" cy="1706941"/>
          </a:xfrm>
          <a:custGeom>
            <a:avLst/>
            <a:gdLst>
              <a:gd name="connsiteX0" fmla="*/ 9906000 w 9906000"/>
              <a:gd name="connsiteY0" fmla="*/ 2091190 h 2091190"/>
              <a:gd name="connsiteX1" fmla="*/ 0 w 9906000"/>
              <a:gd name="connsiteY1" fmla="*/ 2091190 h 2091190"/>
              <a:gd name="connsiteX2" fmla="*/ 0 w 9906000"/>
              <a:gd name="connsiteY2" fmla="*/ 1076278 h 2091190"/>
              <a:gd name="connsiteX3" fmla="*/ 4963886 w 9906000"/>
              <a:gd name="connsiteY3" fmla="*/ 0 h 2091190"/>
              <a:gd name="connsiteX4" fmla="*/ 9906000 w 9906000"/>
              <a:gd name="connsiteY4" fmla="*/ 1071558 h 2091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6000" h="2091190">
                <a:moveTo>
                  <a:pt x="9906000" y="2091190"/>
                </a:moveTo>
                <a:lnTo>
                  <a:pt x="0" y="2091190"/>
                </a:lnTo>
                <a:lnTo>
                  <a:pt x="0" y="1076278"/>
                </a:lnTo>
                <a:lnTo>
                  <a:pt x="4963886" y="0"/>
                </a:lnTo>
                <a:lnTo>
                  <a:pt x="9906000" y="1071558"/>
                </a:lnTo>
                <a:close/>
              </a:path>
            </a:pathLst>
          </a:custGeom>
          <a:solidFill>
            <a:srgbClr val="002C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63"/>
          </a:p>
        </p:txBody>
      </p:sp>
      <p:sp>
        <p:nvSpPr>
          <p:cNvPr id="13" name="Triangle 6">
            <a:extLst>
              <a:ext uri="{FF2B5EF4-FFF2-40B4-BE49-F238E27FC236}">
                <a16:creationId xmlns:a16="http://schemas.microsoft.com/office/drawing/2014/main" id="{BA9A545D-FE9B-BFDE-4371-2D3AE4950865}"/>
              </a:ext>
            </a:extLst>
          </p:cNvPr>
          <p:cNvSpPr/>
          <p:nvPr/>
        </p:nvSpPr>
        <p:spPr>
          <a:xfrm rot="10800000">
            <a:off x="3420188" y="-1"/>
            <a:ext cx="6476829" cy="1705177"/>
          </a:xfrm>
          <a:prstGeom prst="triangle">
            <a:avLst/>
          </a:prstGeom>
          <a:solidFill>
            <a:srgbClr val="022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4" name="Triangle 18">
            <a:extLst>
              <a:ext uri="{FF2B5EF4-FFF2-40B4-BE49-F238E27FC236}">
                <a16:creationId xmlns:a16="http://schemas.microsoft.com/office/drawing/2014/main" id="{57A47F12-A9B8-E839-F3BC-D7530B9531DC}"/>
              </a:ext>
            </a:extLst>
          </p:cNvPr>
          <p:cNvSpPr/>
          <p:nvPr/>
        </p:nvSpPr>
        <p:spPr>
          <a:xfrm>
            <a:off x="3400089" y="5759147"/>
            <a:ext cx="1390134" cy="1098855"/>
          </a:xfrm>
          <a:prstGeom prst="triangle">
            <a:avLst>
              <a:gd name="adj" fmla="val 0"/>
            </a:avLst>
          </a:prstGeom>
          <a:solidFill>
            <a:srgbClr val="022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6" name="Triangle 19">
            <a:extLst>
              <a:ext uri="{FF2B5EF4-FFF2-40B4-BE49-F238E27FC236}">
                <a16:creationId xmlns:a16="http://schemas.microsoft.com/office/drawing/2014/main" id="{3099ED46-5572-53E6-D811-CF3E93CAF308}"/>
              </a:ext>
            </a:extLst>
          </p:cNvPr>
          <p:cNvSpPr/>
          <p:nvPr/>
        </p:nvSpPr>
        <p:spPr>
          <a:xfrm flipH="1">
            <a:off x="8474089" y="5759147"/>
            <a:ext cx="1453469" cy="1098855"/>
          </a:xfrm>
          <a:prstGeom prst="triangle">
            <a:avLst>
              <a:gd name="adj" fmla="val 0"/>
            </a:avLst>
          </a:prstGeom>
          <a:solidFill>
            <a:srgbClr val="022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99330AC8-A486-ADBC-35BA-23FEAA153803}"/>
              </a:ext>
            </a:extLst>
          </p:cNvPr>
          <p:cNvSpPr txBox="1"/>
          <p:nvPr/>
        </p:nvSpPr>
        <p:spPr>
          <a:xfrm>
            <a:off x="3420188" y="106307"/>
            <a:ext cx="6485812" cy="842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75" dirty="0">
                <a:solidFill>
                  <a:srgbClr val="F5B04B"/>
                </a:solidFill>
                <a:latin typeface="Cinzel" pitchFamily="2" charset="77"/>
              </a:rPr>
              <a:t>CERTIFICATE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64F82694-82FD-BE5B-7E08-C74CF558D762}"/>
              </a:ext>
            </a:extLst>
          </p:cNvPr>
          <p:cNvSpPr txBox="1"/>
          <p:nvPr/>
        </p:nvSpPr>
        <p:spPr>
          <a:xfrm>
            <a:off x="3435018" y="779410"/>
            <a:ext cx="6470983" cy="592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625" spc="488" dirty="0">
                <a:solidFill>
                  <a:srgbClr val="E1A244"/>
                </a:solidFill>
                <a:latin typeface="Gothic A1" pitchFamily="2" charset="-127"/>
                <a:ea typeface="Gothic A1" pitchFamily="2" charset="-127"/>
                <a:cs typeface="Gothic A1" pitchFamily="2" charset="-127"/>
              </a:rPr>
              <a:t>OF</a:t>
            </a:r>
            <a:br>
              <a:rPr lang="tr-TR" sz="1625" spc="488" dirty="0">
                <a:solidFill>
                  <a:srgbClr val="E1A244"/>
                </a:solidFill>
                <a:latin typeface="Gothic A1" pitchFamily="2" charset="-127"/>
                <a:ea typeface="Gothic A1" pitchFamily="2" charset="-127"/>
                <a:cs typeface="Gothic A1" pitchFamily="2" charset="-127"/>
              </a:rPr>
            </a:br>
            <a:r>
              <a:rPr lang="en-US" sz="1625" spc="488" dirty="0">
                <a:solidFill>
                  <a:srgbClr val="E1A244"/>
                </a:solidFill>
                <a:latin typeface="Gothic A1" pitchFamily="2" charset="-127"/>
                <a:ea typeface="Gothic A1" pitchFamily="2" charset="-127"/>
                <a:cs typeface="Gothic A1" pitchFamily="2" charset="-127"/>
              </a:rPr>
              <a:t> </a:t>
            </a:r>
            <a:r>
              <a:rPr lang="tr-TR" sz="1625" spc="488" dirty="0">
                <a:solidFill>
                  <a:srgbClr val="E1A244"/>
                </a:solidFill>
                <a:latin typeface="Gothic A1" pitchFamily="2" charset="-127"/>
                <a:ea typeface="Gothic A1" pitchFamily="2" charset="-127"/>
                <a:cs typeface="Gothic A1" pitchFamily="2" charset="-127"/>
              </a:rPr>
              <a:t>ATTENDENCE</a:t>
            </a:r>
            <a:endParaRPr lang="en-US" sz="1625" spc="488" dirty="0">
              <a:solidFill>
                <a:srgbClr val="E1A244"/>
              </a:solidFill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B37ADAFA-FA2D-E8D0-C219-31127A376A98}"/>
              </a:ext>
            </a:extLst>
          </p:cNvPr>
          <p:cNvSpPr txBox="1"/>
          <p:nvPr/>
        </p:nvSpPr>
        <p:spPr>
          <a:xfrm>
            <a:off x="3462725" y="3887170"/>
            <a:ext cx="6476829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38" spc="244" dirty="0">
                <a:solidFill>
                  <a:schemeClr val="tx1">
                    <a:lumMod val="85000"/>
                    <a:lumOff val="15000"/>
                  </a:schemeClr>
                </a:solidFill>
                <a:latin typeface="Gothic A1" pitchFamily="2" charset="-127"/>
                <a:ea typeface="Gothic A1" pitchFamily="2" charset="-127"/>
                <a:cs typeface="Gothic A1" pitchFamily="2" charset="-127"/>
              </a:rPr>
              <a:t>THIS CERTIFICATE IS AWARDED TO</a:t>
            </a:r>
          </a:p>
        </p:txBody>
      </p:sp>
      <p:cxnSp>
        <p:nvCxnSpPr>
          <p:cNvPr id="25" name="Straight Connector 26">
            <a:extLst>
              <a:ext uri="{FF2B5EF4-FFF2-40B4-BE49-F238E27FC236}">
                <a16:creationId xmlns:a16="http://schemas.microsoft.com/office/drawing/2014/main" id="{52FABE8A-CF57-7B66-7F44-AD0DBFA99B14}"/>
              </a:ext>
            </a:extLst>
          </p:cNvPr>
          <p:cNvCxnSpPr>
            <a:cxnSpLocks/>
          </p:cNvCxnSpPr>
          <p:nvPr/>
        </p:nvCxnSpPr>
        <p:spPr>
          <a:xfrm>
            <a:off x="6015983" y="6009965"/>
            <a:ext cx="1359271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>
            <a:extLst>
              <a:ext uri="{FF2B5EF4-FFF2-40B4-BE49-F238E27FC236}">
                <a16:creationId xmlns:a16="http://schemas.microsoft.com/office/drawing/2014/main" id="{D1DE3F2F-8BA4-C026-3699-B9232E3DF734}"/>
              </a:ext>
            </a:extLst>
          </p:cNvPr>
          <p:cNvSpPr/>
          <p:nvPr/>
        </p:nvSpPr>
        <p:spPr>
          <a:xfrm>
            <a:off x="3348452" y="-1767"/>
            <a:ext cx="114273" cy="6859768"/>
          </a:xfrm>
          <a:prstGeom prst="rect">
            <a:avLst/>
          </a:prstGeom>
          <a:solidFill>
            <a:srgbClr val="E2CF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463"/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96000A3F-AD20-8258-76E6-4F2ADCFEDD13}"/>
              </a:ext>
            </a:extLst>
          </p:cNvPr>
          <p:cNvSpPr txBox="1"/>
          <p:nvPr/>
        </p:nvSpPr>
        <p:spPr>
          <a:xfrm>
            <a:off x="6082780" y="6609540"/>
            <a:ext cx="158802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975" b="1" dirty="0">
                <a:latin typeface="Arial" panose="020B0604020202020204" pitchFamily="34" charset="0"/>
                <a:cs typeface="Arial" panose="020B0604020202020204" pitchFamily="34" charset="0"/>
              </a:rPr>
              <a:t>www.serhatozekes.net</a:t>
            </a:r>
            <a:endParaRPr lang="tr-TR" sz="975" dirty="0"/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C7B3B142-B6EB-D63F-6563-E3F876720ECB}"/>
              </a:ext>
            </a:extLst>
          </p:cNvPr>
          <p:cNvSpPr txBox="1"/>
          <p:nvPr/>
        </p:nvSpPr>
        <p:spPr>
          <a:xfrm>
            <a:off x="5530028" y="6017816"/>
            <a:ext cx="2537520" cy="54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63" b="1" dirty="0">
                <a:latin typeface="Arial" panose="020B0604020202020204" pitchFamily="34" charset="0"/>
                <a:cs typeface="Arial" panose="020B0604020202020204" pitchFamily="34" charset="0"/>
              </a:rPr>
              <a:t>Prof. Dr. Serhat ÖZEKES</a:t>
            </a:r>
          </a:p>
          <a:p>
            <a:pPr algn="ctr"/>
            <a:r>
              <a:rPr lang="tr-TR" sz="1463" b="1" dirty="0" err="1">
                <a:latin typeface="Arial" panose="020B0604020202020204" pitchFamily="34" charset="0"/>
                <a:cs typeface="Arial" panose="020B0604020202020204" pitchFamily="34" charset="0"/>
              </a:rPr>
              <a:t>Trainer</a:t>
            </a:r>
            <a:r>
              <a:rPr lang="tr-TR" sz="1463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tr-TR" sz="1463" dirty="0"/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D7B990A6-7D1A-2F2A-52F1-0380A4C1A6BB}"/>
              </a:ext>
            </a:extLst>
          </p:cNvPr>
          <p:cNvSpPr txBox="1"/>
          <p:nvPr/>
        </p:nvSpPr>
        <p:spPr>
          <a:xfrm>
            <a:off x="3734639" y="1930585"/>
            <a:ext cx="59329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b="1" i="0" dirty="0" err="1">
                <a:effectLst/>
                <a:latin typeface="D-DINExp"/>
              </a:rPr>
              <a:t>Artificial</a:t>
            </a:r>
            <a:r>
              <a:rPr lang="tr-TR" sz="2400" b="1" i="0" dirty="0">
                <a:effectLst/>
                <a:latin typeface="D-DINExp"/>
              </a:rPr>
              <a:t> </a:t>
            </a:r>
            <a:r>
              <a:rPr lang="tr-TR" sz="2400" b="1" i="0" dirty="0" err="1">
                <a:effectLst/>
                <a:latin typeface="D-DINExp"/>
              </a:rPr>
              <a:t>Intelligence</a:t>
            </a:r>
            <a:r>
              <a:rPr lang="tr-TR" sz="2400" b="1" i="0" dirty="0">
                <a:effectLst/>
                <a:latin typeface="D-DINExp"/>
              </a:rPr>
              <a:t> </a:t>
            </a:r>
            <a:r>
              <a:rPr lang="tr-TR" sz="2400" b="1" i="0" dirty="0" err="1">
                <a:effectLst/>
                <a:latin typeface="D-DINExp"/>
              </a:rPr>
              <a:t>and</a:t>
            </a:r>
            <a:r>
              <a:rPr lang="tr-TR" sz="2400" b="1" i="0" dirty="0">
                <a:effectLst/>
                <a:latin typeface="D-DINExp"/>
              </a:rPr>
              <a:t> Image </a:t>
            </a:r>
            <a:r>
              <a:rPr lang="tr-TR" sz="2400" b="1" i="0" dirty="0" err="1">
                <a:effectLst/>
                <a:latin typeface="D-DINExp"/>
              </a:rPr>
              <a:t>Processing</a:t>
            </a:r>
            <a:r>
              <a:rPr lang="tr-TR" sz="2400" b="1" i="0" dirty="0">
                <a:effectLst/>
                <a:latin typeface="D-DINExp"/>
              </a:rPr>
              <a:t> Applications</a:t>
            </a:r>
            <a:br>
              <a:rPr lang="tr-TR" sz="1600" b="1" dirty="0">
                <a:latin typeface="Gothic A1" pitchFamily="2" charset="-127"/>
                <a:ea typeface="Gothic A1" pitchFamily="2" charset="-127"/>
                <a:cs typeface="Gothic A1" pitchFamily="2" charset="-127"/>
              </a:rPr>
            </a:br>
            <a:endParaRPr lang="tr-TR" sz="800" b="1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  <a:p>
            <a:pPr algn="just"/>
            <a:r>
              <a:rPr lang="en-US" sz="1400" b="1" dirty="0">
                <a:latin typeface="D-DINExp"/>
              </a:rPr>
              <a:t>Description: </a:t>
            </a:r>
            <a:r>
              <a:rPr lang="en-US" sz="1400" dirty="0">
                <a:latin typeface="D-DINExp"/>
              </a:rPr>
              <a:t>This course </a:t>
            </a:r>
            <a:r>
              <a:rPr lang="en-US" sz="1400" b="0" i="0" dirty="0">
                <a:effectLst/>
                <a:latin typeface="D-DINExp"/>
              </a:rPr>
              <a:t>covered the design and development process of an artificial intelligence model from scratch, both theoretically and practically. Image processing and computer vision projects utilizing artificial intelligence technologies were implemented.</a:t>
            </a:r>
            <a:endParaRPr lang="en-US" sz="14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1AF6BFBD-9858-A12B-05A0-005011581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499" y="1448102"/>
            <a:ext cx="1161698" cy="12067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C3FB8CB-4E72-4279-939A-236F6DAB8469}"/>
              </a:ext>
            </a:extLst>
          </p:cNvPr>
          <p:cNvSpPr txBox="1"/>
          <p:nvPr/>
        </p:nvSpPr>
        <p:spPr>
          <a:xfrm>
            <a:off x="3481000" y="4265226"/>
            <a:ext cx="6480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000" b="1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MERT FERİK</a:t>
            </a:r>
            <a:endParaRPr lang="en-US" sz="11500" dirty="0">
              <a:latin typeface="Pinyon Script" panose="020105010801010D0002" pitchFamily="2" charset="77"/>
            </a:endParaRP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400B9592-26E9-488B-8364-8DB75EA37C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9" b="20811"/>
          <a:stretch/>
        </p:blipFill>
        <p:spPr>
          <a:xfrm>
            <a:off x="5961628" y="5304762"/>
            <a:ext cx="1453470" cy="6475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977EF9-F089-483F-8694-F24FF261E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43" name="Resim 42">
            <a:extLst>
              <a:ext uri="{FF2B5EF4-FFF2-40B4-BE49-F238E27FC236}">
                <a16:creationId xmlns:a16="http://schemas.microsoft.com/office/drawing/2014/main" id="{7221B8B4-87B0-40B0-B3F0-B25906249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58" y="5208246"/>
            <a:ext cx="1433819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6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>
            <a:extLst>
              <a:ext uri="{FF2B5EF4-FFF2-40B4-BE49-F238E27FC236}">
                <a16:creationId xmlns:a16="http://schemas.microsoft.com/office/drawing/2014/main" id="{271A58CC-D775-4FA0-B18B-CE3E2AC9D87B}"/>
              </a:ext>
            </a:extLst>
          </p:cNvPr>
          <p:cNvSpPr/>
          <p:nvPr/>
        </p:nvSpPr>
        <p:spPr>
          <a:xfrm>
            <a:off x="1" y="0"/>
            <a:ext cx="3348448" cy="6858000"/>
          </a:xfrm>
          <a:prstGeom prst="rect">
            <a:avLst/>
          </a:prstGeom>
          <a:gradFill flip="none" rotWithShape="1">
            <a:gsLst>
              <a:gs pos="0">
                <a:srgbClr val="22283F">
                  <a:lumMod val="98000"/>
                  <a:lumOff val="2000"/>
                </a:srgbClr>
              </a:gs>
              <a:gs pos="100000">
                <a:srgbClr val="3D576E">
                  <a:lumMod val="3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463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4EF2C115-5B19-0B1F-148A-532B1F8535D2}"/>
              </a:ext>
            </a:extLst>
          </p:cNvPr>
          <p:cNvSpPr txBox="1"/>
          <p:nvPr/>
        </p:nvSpPr>
        <p:spPr>
          <a:xfrm>
            <a:off x="65155" y="1568387"/>
            <a:ext cx="3014453" cy="3245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tr-TR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tr-TR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Eğitim İçeriği:</a:t>
            </a:r>
          </a:p>
          <a:p>
            <a:pPr algn="just"/>
            <a:endParaRPr lang="tr-TR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Yapay Zeka Temelleri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Python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Programlama Dili Temelleri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Python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ile Veri Bilimi Uygulamaları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Makine Öğrenmesi Yöntemleri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Görüntü İşleme Temelleri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Python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</a:t>
            </a:r>
            <a:r>
              <a:rPr lang="tr-TR" sz="1200" b="1" i="0" dirty="0" err="1">
                <a:solidFill>
                  <a:schemeClr val="bg1"/>
                </a:solidFill>
                <a:effectLst/>
                <a:latin typeface="D-DINExp"/>
              </a:rPr>
              <a:t>OpenCV</a:t>
            </a: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 Uygulamaları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Derin Öğrenme ile Görüntü İşleme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tr-TR" sz="1200" b="1" i="0" dirty="0">
                <a:solidFill>
                  <a:schemeClr val="bg1"/>
                </a:solidFill>
                <a:effectLst/>
                <a:latin typeface="D-DINExp"/>
              </a:rPr>
              <a:t>Gerçek Zamanlı Nesne Takibi </a:t>
            </a:r>
          </a:p>
          <a:p>
            <a:pPr marL="278606" indent="-278606">
              <a:buFont typeface="Arial" panose="020B0604020202020204" pitchFamily="34" charset="0"/>
              <a:buChar char="•"/>
            </a:pPr>
            <a:endParaRPr lang="tr-TR" sz="13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Toplam Eğitim Saati: 24</a:t>
            </a:r>
          </a:p>
          <a:p>
            <a:pPr algn="just"/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Eğitim Tarihleri: 24.12.2025 - 18.03.2026</a:t>
            </a:r>
          </a:p>
          <a:p>
            <a:pPr algn="just"/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Sertifika Tarihi: 17.04.2026</a:t>
            </a:r>
          </a:p>
          <a:p>
            <a:pPr algn="just"/>
            <a:endParaRPr lang="tr-TR" sz="1138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tr-TR" sz="1138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QR ile Doğrula</a:t>
            </a:r>
            <a:endParaRPr lang="tr-TR" sz="1138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riangle 17">
            <a:extLst>
              <a:ext uri="{FF2B5EF4-FFF2-40B4-BE49-F238E27FC236}">
                <a16:creationId xmlns:a16="http://schemas.microsoft.com/office/drawing/2014/main" id="{383F270B-401B-E2B0-D3D9-B51F2207674B}"/>
              </a:ext>
            </a:extLst>
          </p:cNvPr>
          <p:cNvSpPr/>
          <p:nvPr/>
        </p:nvSpPr>
        <p:spPr>
          <a:xfrm rot="10800000" flipH="1">
            <a:off x="6701139" y="855631"/>
            <a:ext cx="3204862" cy="1098854"/>
          </a:xfrm>
          <a:prstGeom prst="triangle">
            <a:avLst>
              <a:gd name="adj" fmla="val 100000"/>
            </a:avLst>
          </a:prstGeom>
          <a:gradFill>
            <a:gsLst>
              <a:gs pos="50000">
                <a:srgbClr val="B77614">
                  <a:lumMod val="94206"/>
                  <a:lumOff val="5794"/>
                </a:srgbClr>
              </a:gs>
              <a:gs pos="0">
                <a:srgbClr val="D58917">
                  <a:lumMod val="50000"/>
                  <a:lumOff val="50000"/>
                </a:srgbClr>
              </a:gs>
              <a:gs pos="100000">
                <a:srgbClr val="D58917">
                  <a:lumMod val="71978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6" name="Triangle 12">
            <a:extLst>
              <a:ext uri="{FF2B5EF4-FFF2-40B4-BE49-F238E27FC236}">
                <a16:creationId xmlns:a16="http://schemas.microsoft.com/office/drawing/2014/main" id="{AAACB276-48B7-2051-976E-B156524AC12B}"/>
              </a:ext>
            </a:extLst>
          </p:cNvPr>
          <p:cNvSpPr/>
          <p:nvPr/>
        </p:nvSpPr>
        <p:spPr>
          <a:xfrm rot="10800000">
            <a:off x="3420187" y="855631"/>
            <a:ext cx="4767675" cy="1098854"/>
          </a:xfrm>
          <a:prstGeom prst="triangle">
            <a:avLst>
              <a:gd name="adj" fmla="val 100000"/>
            </a:avLst>
          </a:prstGeom>
          <a:gradFill>
            <a:gsLst>
              <a:gs pos="50000">
                <a:srgbClr val="B77614">
                  <a:lumMod val="94206"/>
                  <a:lumOff val="5794"/>
                </a:srgbClr>
              </a:gs>
              <a:gs pos="0">
                <a:srgbClr val="D58917">
                  <a:lumMod val="50000"/>
                  <a:lumOff val="50000"/>
                </a:srgbClr>
              </a:gs>
              <a:gs pos="100000">
                <a:srgbClr val="D58917">
                  <a:lumMod val="71978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AAAB3672-063E-A059-2C59-B61D6822CAB6}"/>
              </a:ext>
            </a:extLst>
          </p:cNvPr>
          <p:cNvSpPr/>
          <p:nvPr/>
        </p:nvSpPr>
        <p:spPr>
          <a:xfrm rot="10800000">
            <a:off x="3420189" y="6086"/>
            <a:ext cx="6485810" cy="1699092"/>
          </a:xfrm>
          <a:custGeom>
            <a:avLst/>
            <a:gdLst>
              <a:gd name="connsiteX0" fmla="*/ 9906000 w 9906000"/>
              <a:gd name="connsiteY0" fmla="*/ 2091190 h 2091190"/>
              <a:gd name="connsiteX1" fmla="*/ 0 w 9906000"/>
              <a:gd name="connsiteY1" fmla="*/ 2091190 h 2091190"/>
              <a:gd name="connsiteX2" fmla="*/ 0 w 9906000"/>
              <a:gd name="connsiteY2" fmla="*/ 874702 h 2091190"/>
              <a:gd name="connsiteX3" fmla="*/ 4966401 w 9906000"/>
              <a:gd name="connsiteY3" fmla="*/ 0 h 2091190"/>
              <a:gd name="connsiteX4" fmla="*/ 9906000 w 9906000"/>
              <a:gd name="connsiteY4" fmla="*/ 869982 h 2091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6000" h="2091190">
                <a:moveTo>
                  <a:pt x="9906000" y="2091190"/>
                </a:moveTo>
                <a:lnTo>
                  <a:pt x="0" y="2091190"/>
                </a:lnTo>
                <a:lnTo>
                  <a:pt x="0" y="874702"/>
                </a:lnTo>
                <a:lnTo>
                  <a:pt x="4966401" y="0"/>
                </a:lnTo>
                <a:lnTo>
                  <a:pt x="9906000" y="869982"/>
                </a:lnTo>
                <a:close/>
              </a:path>
            </a:pathLst>
          </a:custGeom>
          <a:gradFill flip="none" rotWithShape="1">
            <a:gsLst>
              <a:gs pos="0">
                <a:srgbClr val="D58917">
                  <a:lumMod val="49811"/>
                  <a:lumOff val="50189"/>
                </a:srgbClr>
              </a:gs>
              <a:gs pos="50000">
                <a:srgbClr val="D58917"/>
              </a:gs>
              <a:gs pos="100000">
                <a:srgbClr val="D58917">
                  <a:lumMod val="50000"/>
                  <a:lumOff val="5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63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9FCDECB-A46A-33C1-4667-CBC54D2B79C9}"/>
              </a:ext>
            </a:extLst>
          </p:cNvPr>
          <p:cNvSpPr/>
          <p:nvPr/>
        </p:nvSpPr>
        <p:spPr>
          <a:xfrm rot="10800000">
            <a:off x="3420187" y="-1766"/>
            <a:ext cx="6485812" cy="1706941"/>
          </a:xfrm>
          <a:custGeom>
            <a:avLst/>
            <a:gdLst>
              <a:gd name="connsiteX0" fmla="*/ 9906000 w 9906000"/>
              <a:gd name="connsiteY0" fmla="*/ 2091190 h 2091190"/>
              <a:gd name="connsiteX1" fmla="*/ 0 w 9906000"/>
              <a:gd name="connsiteY1" fmla="*/ 2091190 h 2091190"/>
              <a:gd name="connsiteX2" fmla="*/ 0 w 9906000"/>
              <a:gd name="connsiteY2" fmla="*/ 1076278 h 2091190"/>
              <a:gd name="connsiteX3" fmla="*/ 4963886 w 9906000"/>
              <a:gd name="connsiteY3" fmla="*/ 0 h 2091190"/>
              <a:gd name="connsiteX4" fmla="*/ 9906000 w 9906000"/>
              <a:gd name="connsiteY4" fmla="*/ 1071558 h 2091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06000" h="2091190">
                <a:moveTo>
                  <a:pt x="9906000" y="2091190"/>
                </a:moveTo>
                <a:lnTo>
                  <a:pt x="0" y="2091190"/>
                </a:lnTo>
                <a:lnTo>
                  <a:pt x="0" y="1076278"/>
                </a:lnTo>
                <a:lnTo>
                  <a:pt x="4963886" y="0"/>
                </a:lnTo>
                <a:lnTo>
                  <a:pt x="9906000" y="1071558"/>
                </a:lnTo>
                <a:close/>
              </a:path>
            </a:pathLst>
          </a:custGeom>
          <a:solidFill>
            <a:srgbClr val="002C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463"/>
          </a:p>
        </p:txBody>
      </p:sp>
      <p:sp>
        <p:nvSpPr>
          <p:cNvPr id="13" name="Triangle 6">
            <a:extLst>
              <a:ext uri="{FF2B5EF4-FFF2-40B4-BE49-F238E27FC236}">
                <a16:creationId xmlns:a16="http://schemas.microsoft.com/office/drawing/2014/main" id="{BA9A545D-FE9B-BFDE-4371-2D3AE4950865}"/>
              </a:ext>
            </a:extLst>
          </p:cNvPr>
          <p:cNvSpPr/>
          <p:nvPr/>
        </p:nvSpPr>
        <p:spPr>
          <a:xfrm rot="10800000">
            <a:off x="3420188" y="-1"/>
            <a:ext cx="6476829" cy="1705177"/>
          </a:xfrm>
          <a:prstGeom prst="triangle">
            <a:avLst/>
          </a:prstGeom>
          <a:solidFill>
            <a:srgbClr val="022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4" name="Triangle 18">
            <a:extLst>
              <a:ext uri="{FF2B5EF4-FFF2-40B4-BE49-F238E27FC236}">
                <a16:creationId xmlns:a16="http://schemas.microsoft.com/office/drawing/2014/main" id="{57A47F12-A9B8-E839-F3BC-D7530B9531DC}"/>
              </a:ext>
            </a:extLst>
          </p:cNvPr>
          <p:cNvSpPr/>
          <p:nvPr/>
        </p:nvSpPr>
        <p:spPr>
          <a:xfrm>
            <a:off x="3400089" y="5759147"/>
            <a:ext cx="1390134" cy="1098855"/>
          </a:xfrm>
          <a:prstGeom prst="triangle">
            <a:avLst>
              <a:gd name="adj" fmla="val 0"/>
            </a:avLst>
          </a:prstGeom>
          <a:solidFill>
            <a:srgbClr val="022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6" name="Triangle 19">
            <a:extLst>
              <a:ext uri="{FF2B5EF4-FFF2-40B4-BE49-F238E27FC236}">
                <a16:creationId xmlns:a16="http://schemas.microsoft.com/office/drawing/2014/main" id="{3099ED46-5572-53E6-D811-CF3E93CAF308}"/>
              </a:ext>
            </a:extLst>
          </p:cNvPr>
          <p:cNvSpPr/>
          <p:nvPr/>
        </p:nvSpPr>
        <p:spPr>
          <a:xfrm flipH="1">
            <a:off x="8474089" y="5759147"/>
            <a:ext cx="1453469" cy="1098855"/>
          </a:xfrm>
          <a:prstGeom prst="triangle">
            <a:avLst>
              <a:gd name="adj" fmla="val 0"/>
            </a:avLst>
          </a:prstGeom>
          <a:solidFill>
            <a:srgbClr val="022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99330AC8-A486-ADBC-35BA-23FEAA153803}"/>
              </a:ext>
            </a:extLst>
          </p:cNvPr>
          <p:cNvSpPr txBox="1"/>
          <p:nvPr/>
        </p:nvSpPr>
        <p:spPr>
          <a:xfrm>
            <a:off x="3420188" y="106307"/>
            <a:ext cx="6485812" cy="842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875" dirty="0">
                <a:solidFill>
                  <a:srgbClr val="F5B04B"/>
                </a:solidFill>
              </a:rPr>
              <a:t>KATILIM SERTİFİKASI</a:t>
            </a:r>
            <a:endParaRPr lang="en-US" sz="4875" dirty="0">
              <a:solidFill>
                <a:srgbClr val="F5B04B"/>
              </a:solidFill>
              <a:latin typeface="Cinzel" pitchFamily="2" charset="77"/>
            </a:endParaRP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B37ADAFA-FA2D-E8D0-C219-31127A376A98}"/>
              </a:ext>
            </a:extLst>
          </p:cNvPr>
          <p:cNvSpPr txBox="1"/>
          <p:nvPr/>
        </p:nvSpPr>
        <p:spPr>
          <a:xfrm>
            <a:off x="3462725" y="3887170"/>
            <a:ext cx="6476829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138" spc="244" dirty="0">
                <a:solidFill>
                  <a:schemeClr val="tx1">
                    <a:lumMod val="85000"/>
                    <a:lumOff val="15000"/>
                  </a:schemeClr>
                </a:solidFill>
                <a:latin typeface="Gothic A1" pitchFamily="2" charset="-127"/>
                <a:ea typeface="Gothic A1" pitchFamily="2" charset="-127"/>
                <a:cs typeface="Gothic A1" pitchFamily="2" charset="-127"/>
              </a:rPr>
              <a:t>SERTİFİKA SAHİBİ</a:t>
            </a:r>
            <a:endParaRPr lang="en-US" sz="1138" spc="244" dirty="0">
              <a:solidFill>
                <a:schemeClr val="tx1">
                  <a:lumMod val="85000"/>
                  <a:lumOff val="15000"/>
                </a:schemeClr>
              </a:solidFill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cxnSp>
        <p:nvCxnSpPr>
          <p:cNvPr id="25" name="Straight Connector 26">
            <a:extLst>
              <a:ext uri="{FF2B5EF4-FFF2-40B4-BE49-F238E27FC236}">
                <a16:creationId xmlns:a16="http://schemas.microsoft.com/office/drawing/2014/main" id="{52FABE8A-CF57-7B66-7F44-AD0DBFA99B14}"/>
              </a:ext>
            </a:extLst>
          </p:cNvPr>
          <p:cNvCxnSpPr>
            <a:cxnSpLocks/>
          </p:cNvCxnSpPr>
          <p:nvPr/>
        </p:nvCxnSpPr>
        <p:spPr>
          <a:xfrm>
            <a:off x="6015983" y="6009965"/>
            <a:ext cx="1359271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ikdörtgen 40">
            <a:extLst>
              <a:ext uri="{FF2B5EF4-FFF2-40B4-BE49-F238E27FC236}">
                <a16:creationId xmlns:a16="http://schemas.microsoft.com/office/drawing/2014/main" id="{D1DE3F2F-8BA4-C026-3699-B9232E3DF734}"/>
              </a:ext>
            </a:extLst>
          </p:cNvPr>
          <p:cNvSpPr/>
          <p:nvPr/>
        </p:nvSpPr>
        <p:spPr>
          <a:xfrm>
            <a:off x="3348452" y="-1767"/>
            <a:ext cx="114273" cy="6859768"/>
          </a:xfrm>
          <a:prstGeom prst="rect">
            <a:avLst/>
          </a:prstGeom>
          <a:solidFill>
            <a:srgbClr val="E2CF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463"/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96000A3F-AD20-8258-76E6-4F2ADCFEDD13}"/>
              </a:ext>
            </a:extLst>
          </p:cNvPr>
          <p:cNvSpPr txBox="1"/>
          <p:nvPr/>
        </p:nvSpPr>
        <p:spPr>
          <a:xfrm>
            <a:off x="6082780" y="6609540"/>
            <a:ext cx="158802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975" b="1" dirty="0">
                <a:latin typeface="Arial" panose="020B0604020202020204" pitchFamily="34" charset="0"/>
                <a:cs typeface="Arial" panose="020B0604020202020204" pitchFamily="34" charset="0"/>
              </a:rPr>
              <a:t>www.serhatozekes.net</a:t>
            </a:r>
            <a:endParaRPr lang="tr-TR" sz="975" dirty="0"/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C7B3B142-B6EB-D63F-6563-E3F876720ECB}"/>
              </a:ext>
            </a:extLst>
          </p:cNvPr>
          <p:cNvSpPr txBox="1"/>
          <p:nvPr/>
        </p:nvSpPr>
        <p:spPr>
          <a:xfrm>
            <a:off x="5530028" y="6017816"/>
            <a:ext cx="2537520" cy="542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63" b="1" dirty="0">
                <a:latin typeface="Arial" panose="020B0604020202020204" pitchFamily="34" charset="0"/>
                <a:cs typeface="Arial" panose="020B0604020202020204" pitchFamily="34" charset="0"/>
              </a:rPr>
              <a:t>Prof. Dr. Serhat ÖZEKES</a:t>
            </a:r>
          </a:p>
          <a:p>
            <a:pPr algn="ctr"/>
            <a:r>
              <a:rPr lang="tr-TR" sz="1463" b="1" dirty="0">
                <a:latin typeface="Arial" panose="020B0604020202020204" pitchFamily="34" charset="0"/>
                <a:cs typeface="Arial" panose="020B0604020202020204" pitchFamily="34" charset="0"/>
              </a:rPr>
              <a:t>Eğitmen </a:t>
            </a:r>
            <a:endParaRPr lang="tr-TR" sz="1463" dirty="0"/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D7B990A6-7D1A-2F2A-52F1-0380A4C1A6BB}"/>
              </a:ext>
            </a:extLst>
          </p:cNvPr>
          <p:cNvSpPr txBox="1"/>
          <p:nvPr/>
        </p:nvSpPr>
        <p:spPr>
          <a:xfrm>
            <a:off x="3734639" y="1930585"/>
            <a:ext cx="59329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b="1" i="0" dirty="0">
                <a:effectLst/>
                <a:latin typeface="D-DINExp"/>
              </a:rPr>
              <a:t>Yapay </a:t>
            </a:r>
            <a:r>
              <a:rPr lang="tr-TR" sz="2400" b="1" i="0" dirty="0" err="1">
                <a:effectLst/>
                <a:latin typeface="D-DINExp"/>
              </a:rPr>
              <a:t>Zek</a:t>
            </a:r>
            <a:r>
              <a:rPr lang="en-US" sz="2400" b="1" dirty="0">
                <a:latin typeface="D-DINExp"/>
              </a:rPr>
              <a:t>â</a:t>
            </a:r>
            <a:r>
              <a:rPr lang="tr-TR" sz="2400" b="1" i="0" dirty="0">
                <a:effectLst/>
                <a:latin typeface="D-DINExp"/>
              </a:rPr>
              <a:t> ve Görüntü İşleme     Uygulamaları</a:t>
            </a:r>
            <a:br>
              <a:rPr lang="tr-TR" sz="1600" b="1" dirty="0">
                <a:latin typeface="Gothic A1" pitchFamily="2" charset="-127"/>
                <a:ea typeface="Gothic A1" pitchFamily="2" charset="-127"/>
                <a:cs typeface="Gothic A1" pitchFamily="2" charset="-127"/>
              </a:rPr>
            </a:br>
            <a:endParaRPr lang="tr-TR" sz="800" b="1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  <a:p>
            <a:pPr algn="just"/>
            <a:r>
              <a:rPr lang="tr-TR" sz="1400" b="1" dirty="0">
                <a:latin typeface="D-DINExp"/>
              </a:rPr>
              <a:t>Tanıtım</a:t>
            </a:r>
            <a:r>
              <a:rPr lang="en-US" sz="1400" b="1" dirty="0">
                <a:latin typeface="D-DINExp"/>
              </a:rPr>
              <a:t>: </a:t>
            </a:r>
            <a:r>
              <a:rPr lang="en-US" sz="1400" dirty="0">
                <a:latin typeface="D-DINExp"/>
              </a:rPr>
              <a:t>Bu </a:t>
            </a:r>
            <a:r>
              <a:rPr lang="en-US" sz="1400" dirty="0" err="1">
                <a:latin typeface="D-DINExp"/>
              </a:rPr>
              <a:t>eğitim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sıfırdan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bir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yapay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zekâ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modelinin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tasarımı</a:t>
            </a:r>
            <a:r>
              <a:rPr lang="en-US" sz="1400" dirty="0">
                <a:latin typeface="D-DINExp"/>
              </a:rPr>
              <a:t> ve </a:t>
            </a:r>
            <a:r>
              <a:rPr lang="en-US" sz="1400" dirty="0" err="1">
                <a:latin typeface="D-DINExp"/>
              </a:rPr>
              <a:t>geliştirme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sürecini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teorik</a:t>
            </a:r>
            <a:r>
              <a:rPr lang="en-US" sz="1400" dirty="0">
                <a:latin typeface="D-DINExp"/>
              </a:rPr>
              <a:t> ve </a:t>
            </a:r>
            <a:r>
              <a:rPr lang="en-US" sz="1400" dirty="0" err="1">
                <a:latin typeface="D-DINExp"/>
              </a:rPr>
              <a:t>uygulamalı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olarak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ele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almıştır</a:t>
            </a:r>
            <a:r>
              <a:rPr lang="en-US" sz="1400" dirty="0">
                <a:latin typeface="D-DINExp"/>
              </a:rPr>
              <a:t>. </a:t>
            </a:r>
            <a:r>
              <a:rPr lang="en-US" sz="1400" dirty="0" err="1">
                <a:latin typeface="D-DINExp"/>
              </a:rPr>
              <a:t>Yapay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zekâ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teknolojilerini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kullanan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görüntü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işleme</a:t>
            </a:r>
            <a:r>
              <a:rPr lang="en-US" sz="1400" dirty="0">
                <a:latin typeface="D-DINExp"/>
              </a:rPr>
              <a:t> ve </a:t>
            </a:r>
            <a:r>
              <a:rPr lang="en-US" sz="1400" dirty="0" err="1">
                <a:latin typeface="D-DINExp"/>
              </a:rPr>
              <a:t>bilgisayarlı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görü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projeleri</a:t>
            </a:r>
            <a:r>
              <a:rPr lang="en-US" sz="1400" dirty="0">
                <a:latin typeface="D-DINExp"/>
              </a:rPr>
              <a:t> </a:t>
            </a:r>
            <a:r>
              <a:rPr lang="en-US" sz="1400" dirty="0" err="1">
                <a:latin typeface="D-DINExp"/>
              </a:rPr>
              <a:t>gerçekleştirilmiştir</a:t>
            </a:r>
            <a:r>
              <a:rPr lang="en-US" sz="1400" dirty="0">
                <a:latin typeface="D-DINExp"/>
              </a:rPr>
              <a:t>.</a:t>
            </a:r>
            <a:endParaRPr lang="en-US" sz="14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1AF6BFBD-9858-A12B-05A0-005011581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499" y="1448102"/>
            <a:ext cx="1161698" cy="12067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C3FB8CB-4E72-4279-939A-236F6DAB8469}"/>
              </a:ext>
            </a:extLst>
          </p:cNvPr>
          <p:cNvSpPr txBox="1"/>
          <p:nvPr/>
        </p:nvSpPr>
        <p:spPr>
          <a:xfrm>
            <a:off x="3481000" y="4265226"/>
            <a:ext cx="6480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000" b="1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MERT FERİK</a:t>
            </a:r>
            <a:endParaRPr lang="en-US" sz="11500" dirty="0">
              <a:latin typeface="Pinyon Script" panose="020105010801010D0002" pitchFamily="2" charset="77"/>
            </a:endParaRP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400B9592-26E9-488B-8364-8DB75EA37C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9" b="20811"/>
          <a:stretch/>
        </p:blipFill>
        <p:spPr>
          <a:xfrm>
            <a:off x="5961628" y="5304762"/>
            <a:ext cx="1453470" cy="647571"/>
          </a:xfrm>
          <a:prstGeom prst="rect">
            <a:avLst/>
          </a:prstGeom>
        </p:spPr>
      </p:pic>
      <p:pic>
        <p:nvPicPr>
          <p:cNvPr id="34" name="Resim 33">
            <a:extLst>
              <a:ext uri="{FF2B5EF4-FFF2-40B4-BE49-F238E27FC236}">
                <a16:creationId xmlns:a16="http://schemas.microsoft.com/office/drawing/2014/main" id="{DFA7CB46-92BB-4A27-B6AF-49271F6D9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458" y="5208246"/>
            <a:ext cx="1433819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9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227</Words>
  <Application>Microsoft Office PowerPoint</Application>
  <PresentationFormat>A4 Kağıt (210x297 mm)</PresentationFormat>
  <Paragraphs>51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Cinzel</vt:lpstr>
      <vt:lpstr>D-DINExp</vt:lpstr>
      <vt:lpstr>Gothic A1</vt:lpstr>
      <vt:lpstr>Pinyon Script</vt:lpstr>
      <vt:lpstr>Office Teması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Serhat Özekes</dc:creator>
  <cp:lastModifiedBy>Serhat Özekes</cp:lastModifiedBy>
  <cp:revision>26</cp:revision>
  <dcterms:created xsi:type="dcterms:W3CDTF">2026-04-28T19:22:59Z</dcterms:created>
  <dcterms:modified xsi:type="dcterms:W3CDTF">2026-04-28T21:32:56Z</dcterms:modified>
</cp:coreProperties>
</file>